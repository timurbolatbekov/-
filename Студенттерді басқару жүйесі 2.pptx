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5486400" cy="8229600"/>
          </a:xfrm>
          <a:prstGeom prst="rect">
            <a:avLst/>
          </a:prstGeom>
        </p:spPr>
      </p:pic>
      <p:sp>
        <p:nvSpPr>
          <p:cNvPr id="3" name="TextBox 2"/>
          <p:cNvSpPr txBox="1"/>
          <p:nvPr/>
        </p:nvSpPr>
        <p:spPr>
          <a:xfrm>
            <a:off x="6273800" y="1524000"/>
            <a:ext cx="7543800" cy="1905000"/>
          </a:xfrm>
          <a:prstGeom prst="rect">
            <a:avLst/>
          </a:prstGeom>
          <a:noFill/>
        </p:spPr>
        <p:txBody>
          <a:bodyPr wrap="square" anchor="b">
            <a:spAutoFit/>
          </a:bodyPr>
          <a:lstStyle/>
          <a:p>
            <a:pPr algn="l">
              <a:defRPr sz="4400" b="1" i="0">
                <a:solidFill>
                  <a:srgbClr val="5C4E3D"/>
                </a:solidFill>
                <a:latin typeface="Libre Baskerville"/>
              </a:defRPr>
            </a:pPr>
            <a:r>
              <a:t>Студенттерді басқару жүйесіне кіріспе</a:t>
            </a:r>
          </a:p>
        </p:txBody>
      </p:sp>
      <p:sp>
        <p:nvSpPr>
          <p:cNvPr id="4" name="TextBox 3"/>
          <p:cNvSpPr txBox="1"/>
          <p:nvPr/>
        </p:nvSpPr>
        <p:spPr>
          <a:xfrm>
            <a:off x="6273800" y="3937000"/>
            <a:ext cx="7543800" cy="1803400"/>
          </a:xfrm>
          <a:prstGeom prst="rect">
            <a:avLst/>
          </a:prstGeom>
          <a:noFill/>
        </p:spPr>
        <p:txBody>
          <a:bodyPr wrap="square" anchor="t">
            <a:spAutoFit/>
          </a:bodyPr>
          <a:lstStyle/>
          <a:p>
            <a:pPr algn="l">
              <a:defRPr sz="1750" b="0" i="0">
                <a:solidFill>
                  <a:srgbClr val="454240"/>
                </a:solidFill>
                <a:latin typeface="DM Sans"/>
              </a:defRPr>
            </a:pPr>
            <a:r>
              <a:t>Студенттерді басқару жүйесі (СБЖ) студенттер туралы ақпаратты жинау, сақтау, өңдеу және пайдалану процестерін автоматтандыратын бағдарламалық қамтамасыз ету болып табылады. Бұл жүйе оқу орнындағы әкімшілік қызметті жеңілдетіп, студенттерге өз деректерін басқаруға мүмкіндік береді және оқу процесін тиімді ұйымдастыруға көмектеседі. Алғашқы СБЖ жүйелері 1970-1980 жылдар аралығында пайда болды, ал қазіргі заманғы жүйелер веб-технологиялар мен дерекқорларды кеңінен қолданады.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5486400" cy="8229600"/>
          </a:xfrm>
          <a:prstGeom prst="rect">
            <a:avLst/>
          </a:prstGeom>
        </p:spPr>
      </p:pic>
      <p:sp>
        <p:nvSpPr>
          <p:cNvPr id="3" name="TextBox 2"/>
          <p:cNvSpPr txBox="1"/>
          <p:nvPr/>
        </p:nvSpPr>
        <p:spPr>
          <a:xfrm>
            <a:off x="6273800" y="508000"/>
            <a:ext cx="7543800" cy="1270000"/>
          </a:xfrm>
          <a:prstGeom prst="rect">
            <a:avLst/>
          </a:prstGeom>
          <a:noFill/>
        </p:spPr>
        <p:txBody>
          <a:bodyPr wrap="square" anchor="t">
            <a:spAutoFit/>
          </a:bodyPr>
          <a:lstStyle/>
          <a:p>
            <a:pPr algn="l">
              <a:defRPr sz="4400" b="1" i="0">
                <a:solidFill>
                  <a:srgbClr val="5C4E3D"/>
                </a:solidFill>
                <a:latin typeface="Libre Baskerville"/>
              </a:defRPr>
            </a:pPr>
            <a:r>
              <a:t>Негізгі функциялары</a:t>
            </a:r>
          </a:p>
        </p:txBody>
      </p:sp>
      <p:sp>
        <p:nvSpPr>
          <p:cNvPr id="4" name="Rounded Rectangle 3"/>
          <p:cNvSpPr/>
          <p:nvPr/>
        </p:nvSpPr>
        <p:spPr>
          <a:xfrm>
            <a:off x="6273800" y="2032000"/>
            <a:ext cx="36576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185400" y="2032000"/>
            <a:ext cx="36576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73800" y="4699000"/>
            <a:ext cx="75692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2286000"/>
            <a:ext cx="3467100" cy="381000"/>
          </a:xfrm>
          <a:prstGeom prst="rect">
            <a:avLst/>
          </a:prstGeom>
          <a:noFill/>
        </p:spPr>
        <p:txBody>
          <a:bodyPr wrap="square" anchor="t">
            <a:spAutoFit/>
          </a:bodyPr>
          <a:lstStyle/>
          <a:p>
            <a:pPr algn="l">
              <a:defRPr sz="2200" b="1" i="0">
                <a:solidFill>
                  <a:srgbClr val="454240"/>
                </a:solidFill>
                <a:latin typeface="Libre Baskerville"/>
              </a:defRPr>
            </a:pPr>
            <a:r>
              <a:t>Жеке мәліметтер</a:t>
            </a:r>
          </a:p>
        </p:txBody>
      </p:sp>
      <p:sp>
        <p:nvSpPr>
          <p:cNvPr id="8" name="TextBox 7"/>
          <p:cNvSpPr txBox="1"/>
          <p:nvPr/>
        </p:nvSpPr>
        <p:spPr>
          <a:xfrm>
            <a:off x="6400800" y="2667000"/>
            <a:ext cx="3467100" cy="1587500"/>
          </a:xfrm>
          <a:prstGeom prst="rect">
            <a:avLst/>
          </a:prstGeom>
          <a:noFill/>
        </p:spPr>
        <p:txBody>
          <a:bodyPr wrap="square" anchor="t">
            <a:spAutoFit/>
          </a:bodyPr>
          <a:lstStyle/>
          <a:p>
            <a:pPr algn="l">
              <a:defRPr sz="1750" b="0" i="0">
                <a:solidFill>
                  <a:srgbClr val="454240"/>
                </a:solidFill>
                <a:latin typeface="DM Sans"/>
              </a:defRPr>
            </a:pPr>
            <a:r>
              <a:t>СБЖ студенттің тегі, аты, әкесінің аты, туған күні және мекен-жайы сияқты жеке мәліметтерін сақтайды.</a:t>
            </a:r>
          </a:p>
        </p:txBody>
      </p:sp>
      <p:sp>
        <p:nvSpPr>
          <p:cNvPr id="9" name="TextBox 8"/>
          <p:cNvSpPr txBox="1"/>
          <p:nvPr/>
        </p:nvSpPr>
        <p:spPr>
          <a:xfrm>
            <a:off x="10312400" y="2286000"/>
            <a:ext cx="3467100" cy="381000"/>
          </a:xfrm>
          <a:prstGeom prst="rect">
            <a:avLst/>
          </a:prstGeom>
          <a:noFill/>
        </p:spPr>
        <p:txBody>
          <a:bodyPr wrap="square" anchor="t">
            <a:spAutoFit/>
          </a:bodyPr>
          <a:lstStyle/>
          <a:p>
            <a:pPr algn="l">
              <a:defRPr sz="2200" b="1" i="0">
                <a:solidFill>
                  <a:srgbClr val="454240"/>
                </a:solidFill>
                <a:latin typeface="Libre Baskerville"/>
              </a:defRPr>
            </a:pPr>
            <a:r>
              <a:t>Оқу жетістіктері</a:t>
            </a:r>
          </a:p>
        </p:txBody>
      </p:sp>
      <p:sp>
        <p:nvSpPr>
          <p:cNvPr id="10" name="TextBox 9"/>
          <p:cNvSpPr txBox="1"/>
          <p:nvPr/>
        </p:nvSpPr>
        <p:spPr>
          <a:xfrm>
            <a:off x="10312400" y="2667000"/>
            <a:ext cx="3467100" cy="1587500"/>
          </a:xfrm>
          <a:prstGeom prst="rect">
            <a:avLst/>
          </a:prstGeom>
          <a:noFill/>
        </p:spPr>
        <p:txBody>
          <a:bodyPr wrap="square" anchor="t">
            <a:spAutoFit/>
          </a:bodyPr>
          <a:lstStyle/>
          <a:p>
            <a:pPr algn="l">
              <a:defRPr sz="1750" b="0" i="0">
                <a:solidFill>
                  <a:srgbClr val="454240"/>
                </a:solidFill>
                <a:latin typeface="DM Sans"/>
              </a:defRPr>
            </a:pPr>
            <a:r>
              <a:t>Бағалар, емтихан нәтижелері, курстық және дипломдық жұмыстар туралы мәліметтер тіркеледі.</a:t>
            </a:r>
          </a:p>
        </p:txBody>
      </p:sp>
      <p:sp>
        <p:nvSpPr>
          <p:cNvPr id="11" name="TextBox 10"/>
          <p:cNvSpPr txBox="1"/>
          <p:nvPr/>
        </p:nvSpPr>
        <p:spPr>
          <a:xfrm>
            <a:off x="6400800" y="4953000"/>
            <a:ext cx="7378700" cy="381000"/>
          </a:xfrm>
          <a:prstGeom prst="rect">
            <a:avLst/>
          </a:prstGeom>
          <a:noFill/>
        </p:spPr>
        <p:txBody>
          <a:bodyPr wrap="square" anchor="t">
            <a:spAutoFit/>
          </a:bodyPr>
          <a:lstStyle/>
          <a:p>
            <a:pPr algn="l">
              <a:defRPr sz="2200" b="1" i="0">
                <a:solidFill>
                  <a:srgbClr val="454240"/>
                </a:solidFill>
                <a:latin typeface="Libre Baskerville"/>
              </a:defRPr>
            </a:pPr>
            <a:r>
              <a:t>Оқу жоспары</a:t>
            </a:r>
          </a:p>
        </p:txBody>
      </p:sp>
      <p:sp>
        <p:nvSpPr>
          <p:cNvPr id="12" name="TextBox 11"/>
          <p:cNvSpPr txBox="1"/>
          <p:nvPr/>
        </p:nvSpPr>
        <p:spPr>
          <a:xfrm>
            <a:off x="6400800" y="5334000"/>
            <a:ext cx="7378700" cy="1587500"/>
          </a:xfrm>
          <a:prstGeom prst="rect">
            <a:avLst/>
          </a:prstGeom>
          <a:noFill/>
        </p:spPr>
        <p:txBody>
          <a:bodyPr wrap="square" anchor="t">
            <a:spAutoFit/>
          </a:bodyPr>
          <a:lstStyle/>
          <a:p>
            <a:pPr algn="l">
              <a:defRPr sz="1750" b="0" i="0">
                <a:solidFill>
                  <a:srgbClr val="454240"/>
                </a:solidFill>
                <a:latin typeface="DM Sans"/>
              </a:defRPr>
            </a:pPr>
            <a:r>
              <a:t>Студенттерге арналған сабақ кестесі, оқу жоспары және оқытушылар туралы ақпаратты ұсынады. Бұл ақпараттар студенттердің оқу процесін жоспарлауына мүмкіндік береді.</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sp>
        <p:nvSpPr>
          <p:cNvPr id="2" name="TextBox 1"/>
          <p:cNvSpPr txBox="1"/>
          <p:nvPr/>
        </p:nvSpPr>
        <p:spPr>
          <a:xfrm>
            <a:off x="889000" y="977900"/>
            <a:ext cx="12700000" cy="762000"/>
          </a:xfrm>
          <a:prstGeom prst="rect">
            <a:avLst/>
          </a:prstGeom>
          <a:noFill/>
        </p:spPr>
        <p:txBody>
          <a:bodyPr wrap="square" anchor="t">
            <a:spAutoFit/>
          </a:bodyPr>
          <a:lstStyle/>
          <a:p>
            <a:pPr algn="l">
              <a:defRPr sz="4400" b="1" i="0">
                <a:solidFill>
                  <a:srgbClr val="5C4E3D"/>
                </a:solidFill>
                <a:latin typeface="Libre Baskerville"/>
              </a:defRPr>
            </a:pPr>
            <a:r>
              <a:t>Артықшылықтары</a:t>
            </a:r>
          </a:p>
        </p:txBody>
      </p:sp>
      <p:sp>
        <p:nvSpPr>
          <p:cNvPr id="3" name="Rounded Rectangle 2"/>
          <p:cNvSpPr/>
          <p:nvPr/>
        </p:nvSpPr>
        <p:spPr>
          <a:xfrm>
            <a:off x="1079500" y="4502150"/>
            <a:ext cx="129921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46550" y="4038600"/>
            <a:ext cx="12700" cy="3175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34250" y="4660900"/>
            <a:ext cx="12700" cy="3175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509250" y="4038600"/>
            <a:ext cx="12700" cy="3175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937000" y="4292600"/>
            <a:ext cx="431800" cy="431800"/>
          </a:xfrm>
          <a:prstGeom prst="roundRect">
            <a:avLst>
              <a:gd name="adj" fmla="val 5000"/>
            </a:avLst>
          </a:prstGeom>
          <a:solidFill>
            <a:srgbClr val="F7EDD4"/>
          </a:solidFill>
          <a:ln w="12700">
            <a:solidFill>
              <a:srgbClr val="F7E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24700" y="4292600"/>
            <a:ext cx="431800" cy="431800"/>
          </a:xfrm>
          <a:prstGeom prst="roundRect">
            <a:avLst>
              <a:gd name="adj" fmla="val 5000"/>
            </a:avLst>
          </a:prstGeom>
          <a:solidFill>
            <a:srgbClr val="F7EDD4"/>
          </a:solidFill>
          <a:ln w="12700">
            <a:solidFill>
              <a:srgbClr val="F7E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299700" y="4292600"/>
            <a:ext cx="431800" cy="431800"/>
          </a:xfrm>
          <a:prstGeom prst="roundRect">
            <a:avLst>
              <a:gd name="adj" fmla="val 5000"/>
            </a:avLst>
          </a:prstGeom>
          <a:solidFill>
            <a:srgbClr val="F7EDD4"/>
          </a:solidFill>
          <a:ln w="12700">
            <a:solidFill>
              <a:srgbClr val="F7E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1400" y="2095500"/>
            <a:ext cx="6083300" cy="431800"/>
          </a:xfrm>
          <a:prstGeom prst="rect">
            <a:avLst/>
          </a:prstGeom>
          <a:noFill/>
        </p:spPr>
        <p:txBody>
          <a:bodyPr wrap="square" anchor="t">
            <a:spAutoFit/>
          </a:bodyPr>
          <a:lstStyle/>
          <a:p>
            <a:pPr algn="ctr">
              <a:defRPr sz="2200" b="1" i="0">
                <a:solidFill>
                  <a:srgbClr val="454240"/>
                </a:solidFill>
                <a:latin typeface="Libre Baskerville"/>
              </a:defRPr>
            </a:pPr>
            <a:r>
              <a:t>Уақытты үнемдеу</a:t>
            </a:r>
          </a:p>
        </p:txBody>
      </p:sp>
      <p:sp>
        <p:nvSpPr>
          <p:cNvPr id="11" name="TextBox 10"/>
          <p:cNvSpPr txBox="1"/>
          <p:nvPr/>
        </p:nvSpPr>
        <p:spPr>
          <a:xfrm>
            <a:off x="1041400" y="2730500"/>
            <a:ext cx="6083300" cy="1143000"/>
          </a:xfrm>
          <a:prstGeom prst="rect">
            <a:avLst/>
          </a:prstGeom>
          <a:noFill/>
        </p:spPr>
        <p:txBody>
          <a:bodyPr wrap="square" anchor="t">
            <a:spAutoFit/>
          </a:bodyPr>
          <a:lstStyle/>
          <a:p>
            <a:pPr algn="ctr">
              <a:defRPr sz="1750" b="0" i="0">
                <a:solidFill>
                  <a:srgbClr val="454240"/>
                </a:solidFill>
                <a:latin typeface="DM Sans"/>
              </a:defRPr>
            </a:pPr>
            <a:r>
              <a:t>Әкімшілік және студенттер үшін құжат айналымын айтарлықтай азайтады, бұл олардың уақытын босатады.</a:t>
            </a:r>
          </a:p>
        </p:txBody>
      </p:sp>
      <p:pic>
        <p:nvPicPr>
          <p:cNvPr id="12" name="Picture 11" descr="image.png"/>
          <p:cNvPicPr>
            <a:picLocks noChangeAspect="1"/>
          </p:cNvPicPr>
          <p:nvPr/>
        </p:nvPicPr>
        <p:blipFill>
          <a:blip r:embed="rId2"/>
          <a:stretch>
            <a:fillRect/>
          </a:stretch>
        </p:blipFill>
        <p:spPr>
          <a:xfrm>
            <a:off x="4025900" y="4381500"/>
            <a:ext cx="254000" cy="254000"/>
          </a:xfrm>
          <a:prstGeom prst="rect">
            <a:avLst/>
          </a:prstGeom>
        </p:spPr>
      </p:pic>
      <p:sp>
        <p:nvSpPr>
          <p:cNvPr id="13" name="TextBox 12"/>
          <p:cNvSpPr txBox="1"/>
          <p:nvPr/>
        </p:nvSpPr>
        <p:spPr>
          <a:xfrm>
            <a:off x="4267200" y="5207000"/>
            <a:ext cx="6083300" cy="431800"/>
          </a:xfrm>
          <a:prstGeom prst="rect">
            <a:avLst/>
          </a:prstGeom>
          <a:noFill/>
        </p:spPr>
        <p:txBody>
          <a:bodyPr wrap="square" anchor="t">
            <a:spAutoFit/>
          </a:bodyPr>
          <a:lstStyle/>
          <a:p>
            <a:pPr algn="ctr">
              <a:defRPr sz="2200" b="1" i="0">
                <a:solidFill>
                  <a:srgbClr val="454240"/>
                </a:solidFill>
                <a:latin typeface="Libre Baskerville"/>
              </a:defRPr>
            </a:pPr>
            <a:r>
              <a:t>Ақпаратқа қолжетімділік</a:t>
            </a:r>
          </a:p>
        </p:txBody>
      </p:sp>
      <p:sp>
        <p:nvSpPr>
          <p:cNvPr id="14" name="TextBox 13"/>
          <p:cNvSpPr txBox="1"/>
          <p:nvPr/>
        </p:nvSpPr>
        <p:spPr>
          <a:xfrm>
            <a:off x="4267200" y="5727700"/>
            <a:ext cx="6083300" cy="1143000"/>
          </a:xfrm>
          <a:prstGeom prst="rect">
            <a:avLst/>
          </a:prstGeom>
          <a:noFill/>
        </p:spPr>
        <p:txBody>
          <a:bodyPr wrap="square" anchor="t">
            <a:spAutoFit/>
          </a:bodyPr>
          <a:lstStyle/>
          <a:p>
            <a:pPr algn="ctr">
              <a:defRPr sz="1750" b="0" i="0">
                <a:solidFill>
                  <a:srgbClr val="454240"/>
                </a:solidFill>
                <a:latin typeface="DM Sans"/>
              </a:defRPr>
            </a:pPr>
            <a:r>
              <a:t>Студенттер мен оқытушылар қажетті мәліметтерге кез келген уақытта және кез келген жерден оңай қол жеткізе алады.</a:t>
            </a:r>
          </a:p>
        </p:txBody>
      </p:sp>
      <p:pic>
        <p:nvPicPr>
          <p:cNvPr id="15" name="Picture 14" descr="image.png"/>
          <p:cNvPicPr>
            <a:picLocks noChangeAspect="1"/>
          </p:cNvPicPr>
          <p:nvPr/>
        </p:nvPicPr>
        <p:blipFill>
          <a:blip r:embed="rId3"/>
          <a:stretch>
            <a:fillRect/>
          </a:stretch>
        </p:blipFill>
        <p:spPr>
          <a:xfrm>
            <a:off x="7213600" y="4381500"/>
            <a:ext cx="254000" cy="254000"/>
          </a:xfrm>
          <a:prstGeom prst="rect">
            <a:avLst/>
          </a:prstGeom>
        </p:spPr>
      </p:pic>
      <p:sp>
        <p:nvSpPr>
          <p:cNvPr id="16" name="TextBox 15"/>
          <p:cNvSpPr txBox="1"/>
          <p:nvPr/>
        </p:nvSpPr>
        <p:spPr>
          <a:xfrm>
            <a:off x="7505700" y="2120900"/>
            <a:ext cx="6083300" cy="431800"/>
          </a:xfrm>
          <a:prstGeom prst="rect">
            <a:avLst/>
          </a:prstGeom>
          <a:noFill/>
        </p:spPr>
        <p:txBody>
          <a:bodyPr wrap="square" anchor="t">
            <a:spAutoFit/>
          </a:bodyPr>
          <a:lstStyle/>
          <a:p>
            <a:pPr algn="ctr">
              <a:defRPr sz="2200" b="1" i="0">
                <a:solidFill>
                  <a:srgbClr val="454240"/>
                </a:solidFill>
                <a:latin typeface="Libre Baskerville"/>
              </a:defRPr>
            </a:pPr>
            <a:r>
              <a:t>Деректердің дәлдігі</a:t>
            </a:r>
          </a:p>
        </p:txBody>
      </p:sp>
      <p:sp>
        <p:nvSpPr>
          <p:cNvPr id="17" name="TextBox 16"/>
          <p:cNvSpPr txBox="1"/>
          <p:nvPr/>
        </p:nvSpPr>
        <p:spPr>
          <a:xfrm>
            <a:off x="7505700" y="2730500"/>
            <a:ext cx="6083300" cy="1143000"/>
          </a:xfrm>
          <a:prstGeom prst="rect">
            <a:avLst/>
          </a:prstGeom>
          <a:noFill/>
        </p:spPr>
        <p:txBody>
          <a:bodyPr wrap="square" anchor="t">
            <a:spAutoFit/>
          </a:bodyPr>
          <a:lstStyle/>
          <a:p>
            <a:pPr algn="ctr">
              <a:defRPr sz="1750" b="0" i="0">
                <a:solidFill>
                  <a:srgbClr val="454240"/>
                </a:solidFill>
                <a:latin typeface="DM Sans"/>
              </a:defRPr>
            </a:pPr>
            <a:r>
              <a:t>Автоматтандыру процестері қателіктерді азайтып, ақпараттың сенімділігі мен тұтастығын арттырады.</a:t>
            </a:r>
          </a:p>
        </p:txBody>
      </p:sp>
      <p:pic>
        <p:nvPicPr>
          <p:cNvPr id="18" name="Picture 17" descr="image.png"/>
          <p:cNvPicPr>
            <a:picLocks noChangeAspect="1"/>
          </p:cNvPicPr>
          <p:nvPr/>
        </p:nvPicPr>
        <p:blipFill>
          <a:blip r:embed="rId4"/>
          <a:stretch>
            <a:fillRect/>
          </a:stretch>
        </p:blipFill>
        <p:spPr>
          <a:xfrm>
            <a:off x="10388600" y="4381500"/>
            <a:ext cx="254000" cy="254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4630400" cy="3302000"/>
          </a:xfrm>
          <a:prstGeom prst="rect">
            <a:avLst/>
          </a:prstGeom>
        </p:spPr>
      </p:pic>
      <p:sp>
        <p:nvSpPr>
          <p:cNvPr id="3" name="TextBox 2"/>
          <p:cNvSpPr txBox="1"/>
          <p:nvPr/>
        </p:nvSpPr>
        <p:spPr>
          <a:xfrm>
            <a:off x="762000" y="3556000"/>
            <a:ext cx="12700000" cy="1270000"/>
          </a:xfrm>
          <a:prstGeom prst="rect">
            <a:avLst/>
          </a:prstGeom>
          <a:noFill/>
        </p:spPr>
        <p:txBody>
          <a:bodyPr wrap="square" anchor="t">
            <a:spAutoFit/>
          </a:bodyPr>
          <a:lstStyle/>
          <a:p>
            <a:pPr algn="l">
              <a:defRPr sz="4400" b="1" i="0">
                <a:solidFill>
                  <a:srgbClr val="5C4E3D"/>
                </a:solidFill>
                <a:latin typeface="Libre Baskerville"/>
              </a:defRPr>
            </a:pPr>
            <a:r>
              <a:t>Студенттерді басқару жүйелерінің мысалдары</a:t>
            </a:r>
          </a:p>
        </p:txBody>
      </p:sp>
      <p:sp>
        <p:nvSpPr>
          <p:cNvPr id="4" name="Rounded Rectangle 3"/>
          <p:cNvSpPr/>
          <p:nvPr/>
        </p:nvSpPr>
        <p:spPr>
          <a:xfrm>
            <a:off x="1073150" y="4508500"/>
            <a:ext cx="12700" cy="33020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89000" y="47625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45085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1</a:t>
            </a:r>
          </a:p>
        </p:txBody>
      </p:sp>
      <p:sp>
        <p:nvSpPr>
          <p:cNvPr id="7" name="Rounded Rectangle 6"/>
          <p:cNvSpPr/>
          <p:nvPr/>
        </p:nvSpPr>
        <p:spPr>
          <a:xfrm>
            <a:off x="1270000" y="49466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9000" y="5969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9000" y="57023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2</a:t>
            </a:r>
          </a:p>
        </p:txBody>
      </p:sp>
      <p:sp>
        <p:nvSpPr>
          <p:cNvPr id="10" name="Rounded Rectangle 9"/>
          <p:cNvSpPr/>
          <p:nvPr/>
        </p:nvSpPr>
        <p:spPr>
          <a:xfrm>
            <a:off x="1270000" y="61531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00" y="7239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000" y="69723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3</a:t>
            </a:r>
          </a:p>
        </p:txBody>
      </p:sp>
      <p:sp>
        <p:nvSpPr>
          <p:cNvPr id="13" name="Rounded Rectangle 12"/>
          <p:cNvSpPr/>
          <p:nvPr/>
        </p:nvSpPr>
        <p:spPr>
          <a:xfrm>
            <a:off x="1270000" y="74231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05000" y="4508500"/>
            <a:ext cx="12700000" cy="381000"/>
          </a:xfrm>
          <a:prstGeom prst="rect">
            <a:avLst/>
          </a:prstGeom>
          <a:noFill/>
        </p:spPr>
        <p:txBody>
          <a:bodyPr wrap="square" anchor="t">
            <a:spAutoFit/>
          </a:bodyPr>
          <a:lstStyle/>
          <a:p>
            <a:pPr algn="l">
              <a:defRPr sz="2200" b="1" i="0">
                <a:solidFill>
                  <a:srgbClr val="454240"/>
                </a:solidFill>
                <a:latin typeface="Libre Baskerville"/>
              </a:defRPr>
            </a:pPr>
            <a:r>
              <a:t>Platonus</a:t>
            </a:r>
          </a:p>
        </p:txBody>
      </p:sp>
      <p:sp>
        <p:nvSpPr>
          <p:cNvPr id="15" name="TextBox 14"/>
          <p:cNvSpPr txBox="1"/>
          <p:nvPr/>
        </p:nvSpPr>
        <p:spPr>
          <a:xfrm>
            <a:off x="1905000" y="4889500"/>
            <a:ext cx="12700000" cy="1143000"/>
          </a:xfrm>
          <a:prstGeom prst="rect">
            <a:avLst/>
          </a:prstGeom>
          <a:noFill/>
        </p:spPr>
        <p:txBody>
          <a:bodyPr wrap="square" anchor="t">
            <a:spAutoFit/>
          </a:bodyPr>
          <a:lstStyle/>
          <a:p>
            <a:pPr algn="l">
              <a:defRPr sz="1750" b="0" i="0">
                <a:solidFill>
                  <a:srgbClr val="454240"/>
                </a:solidFill>
                <a:latin typeface="DM Sans"/>
              </a:defRPr>
            </a:pPr>
            <a:r>
              <a:t>Бұл жүйе Қазақстанда кеңінен қолданылады және студенттерді тіркеуден бастап, білім алу процесін басқаруға дейінгі барлық кезеңдерді қамтиды.</a:t>
            </a:r>
          </a:p>
        </p:txBody>
      </p:sp>
      <p:sp>
        <p:nvSpPr>
          <p:cNvPr id="16" name="TextBox 15"/>
          <p:cNvSpPr txBox="1"/>
          <p:nvPr/>
        </p:nvSpPr>
        <p:spPr>
          <a:xfrm>
            <a:off x="1905000" y="5778500"/>
            <a:ext cx="12700000" cy="381000"/>
          </a:xfrm>
          <a:prstGeom prst="rect">
            <a:avLst/>
          </a:prstGeom>
          <a:noFill/>
        </p:spPr>
        <p:txBody>
          <a:bodyPr wrap="square" anchor="t">
            <a:spAutoFit/>
          </a:bodyPr>
          <a:lstStyle/>
          <a:p>
            <a:pPr algn="l">
              <a:defRPr sz="2200" b="1" i="0">
                <a:solidFill>
                  <a:srgbClr val="454240"/>
                </a:solidFill>
                <a:latin typeface="Libre Baskerville"/>
              </a:defRPr>
            </a:pPr>
            <a:r>
              <a:t>Moodle</a:t>
            </a:r>
          </a:p>
        </p:txBody>
      </p:sp>
      <p:sp>
        <p:nvSpPr>
          <p:cNvPr id="17" name="TextBox 16"/>
          <p:cNvSpPr txBox="1"/>
          <p:nvPr/>
        </p:nvSpPr>
        <p:spPr>
          <a:xfrm>
            <a:off x="1905000" y="6159500"/>
            <a:ext cx="12700000" cy="1143000"/>
          </a:xfrm>
          <a:prstGeom prst="rect">
            <a:avLst/>
          </a:prstGeom>
          <a:noFill/>
        </p:spPr>
        <p:txBody>
          <a:bodyPr wrap="square" anchor="t">
            <a:spAutoFit/>
          </a:bodyPr>
          <a:lstStyle/>
          <a:p>
            <a:pPr algn="l">
              <a:defRPr sz="1750" b="0" i="0">
                <a:solidFill>
                  <a:srgbClr val="454240"/>
                </a:solidFill>
                <a:latin typeface="DM Sans"/>
              </a:defRPr>
            </a:pPr>
            <a:r>
              <a:t>Әлемдік деңгейде танымал бұл платформа онлайн білім беруге арналған және студенттермен жұмыс істеу функцияларын да атқарады.</a:t>
            </a:r>
          </a:p>
        </p:txBody>
      </p:sp>
      <p:sp>
        <p:nvSpPr>
          <p:cNvPr id="18" name="TextBox 17"/>
          <p:cNvSpPr txBox="1"/>
          <p:nvPr/>
        </p:nvSpPr>
        <p:spPr>
          <a:xfrm>
            <a:off x="1905000" y="7048500"/>
            <a:ext cx="12700000" cy="381000"/>
          </a:xfrm>
          <a:prstGeom prst="rect">
            <a:avLst/>
          </a:prstGeom>
          <a:noFill/>
        </p:spPr>
        <p:txBody>
          <a:bodyPr wrap="square" anchor="t">
            <a:spAutoFit/>
          </a:bodyPr>
          <a:lstStyle/>
          <a:p>
            <a:pPr algn="l">
              <a:defRPr sz="2200" b="1" i="0">
                <a:solidFill>
                  <a:srgbClr val="454240"/>
                </a:solidFill>
                <a:latin typeface="Libre Baskerville"/>
              </a:defRPr>
            </a:pPr>
            <a:r>
              <a:t>Жеке әзірлемелер</a:t>
            </a:r>
          </a:p>
        </p:txBody>
      </p:sp>
      <p:sp>
        <p:nvSpPr>
          <p:cNvPr id="19" name="TextBox 18"/>
          <p:cNvSpPr txBox="1"/>
          <p:nvPr/>
        </p:nvSpPr>
        <p:spPr>
          <a:xfrm>
            <a:off x="1905000" y="7429500"/>
            <a:ext cx="12700000" cy="1143000"/>
          </a:xfrm>
          <a:prstGeom prst="rect">
            <a:avLst/>
          </a:prstGeom>
          <a:noFill/>
        </p:spPr>
        <p:txBody>
          <a:bodyPr wrap="square" anchor="t">
            <a:spAutoFit/>
          </a:bodyPr>
          <a:lstStyle/>
          <a:p>
            <a:pPr algn="l">
              <a:defRPr sz="1750" b="0" i="0">
                <a:solidFill>
                  <a:srgbClr val="454240"/>
                </a:solidFill>
                <a:latin typeface="DM Sans"/>
              </a:defRPr>
            </a:pPr>
            <a:r>
              <a:t>Әрбір университет өзінің ерекшеліктеріне байланысты жеке студенттерді басқару жүйесін де әзірлеп, қолдануы мүмкін.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sp>
        <p:nvSpPr>
          <p:cNvPr id="2" name="TextBox 1"/>
          <p:cNvSpPr txBox="1"/>
          <p:nvPr/>
        </p:nvSpPr>
        <p:spPr>
          <a:xfrm>
            <a:off x="762000" y="1270000"/>
            <a:ext cx="12700000" cy="1143000"/>
          </a:xfrm>
          <a:prstGeom prst="rect">
            <a:avLst/>
          </a:prstGeom>
          <a:noFill/>
        </p:spPr>
        <p:txBody>
          <a:bodyPr wrap="square" anchor="t">
            <a:spAutoFit/>
          </a:bodyPr>
          <a:lstStyle/>
          <a:p>
            <a:pPr algn="l">
              <a:defRPr sz="4400" b="1" i="0">
                <a:solidFill>
                  <a:srgbClr val="5C4E3D"/>
                </a:solidFill>
                <a:latin typeface="Libre Baskerville"/>
              </a:defRPr>
            </a:pPr>
            <a:r>
              <a:t>Студент үшін пайдасы</a:t>
            </a:r>
          </a:p>
        </p:txBody>
      </p:sp>
      <p:pic>
        <p:nvPicPr>
          <p:cNvPr id="3" name="Picture 2" descr="image.png"/>
          <p:cNvPicPr>
            <a:picLocks noChangeAspect="1"/>
          </p:cNvPicPr>
          <p:nvPr/>
        </p:nvPicPr>
        <p:blipFill>
          <a:blip r:embed="rId2"/>
          <a:stretch>
            <a:fillRect/>
          </a:stretch>
        </p:blipFill>
        <p:spPr>
          <a:xfrm>
            <a:off x="5156200" y="2540000"/>
            <a:ext cx="4318000" cy="4318000"/>
          </a:xfrm>
          <a:prstGeom prst="rect">
            <a:avLst/>
          </a:prstGeom>
        </p:spPr>
      </p:pic>
      <p:pic>
        <p:nvPicPr>
          <p:cNvPr id="4" name="Picture 3" descr="image.png"/>
          <p:cNvPicPr>
            <a:picLocks noChangeAspect="1"/>
          </p:cNvPicPr>
          <p:nvPr/>
        </p:nvPicPr>
        <p:blipFill>
          <a:blip r:embed="rId3"/>
          <a:stretch>
            <a:fillRect/>
          </a:stretch>
        </p:blipFill>
        <p:spPr>
          <a:xfrm>
            <a:off x="5156200" y="2540000"/>
            <a:ext cx="4318000" cy="4318000"/>
          </a:xfrm>
          <a:prstGeom prst="rect">
            <a:avLst/>
          </a:prstGeom>
        </p:spPr>
      </p:pic>
      <p:pic>
        <p:nvPicPr>
          <p:cNvPr id="5" name="Picture 4" descr="image.png"/>
          <p:cNvPicPr>
            <a:picLocks noChangeAspect="1"/>
          </p:cNvPicPr>
          <p:nvPr/>
        </p:nvPicPr>
        <p:blipFill>
          <a:blip r:embed="rId4"/>
          <a:stretch>
            <a:fillRect/>
          </a:stretch>
        </p:blipFill>
        <p:spPr>
          <a:xfrm>
            <a:off x="5156200" y="2540000"/>
            <a:ext cx="4318000" cy="4318000"/>
          </a:xfrm>
          <a:prstGeom prst="rect">
            <a:avLst/>
          </a:prstGeom>
        </p:spPr>
      </p:pic>
      <p:sp>
        <p:nvSpPr>
          <p:cNvPr id="6" name="TextBox 5"/>
          <p:cNvSpPr txBox="1"/>
          <p:nvPr/>
        </p:nvSpPr>
        <p:spPr>
          <a:xfrm>
            <a:off x="762000" y="3556000"/>
            <a:ext cx="4064000" cy="381000"/>
          </a:xfrm>
          <a:prstGeom prst="rect">
            <a:avLst/>
          </a:prstGeom>
          <a:noFill/>
        </p:spPr>
        <p:txBody>
          <a:bodyPr wrap="square" anchor="t">
            <a:spAutoFit/>
          </a:bodyPr>
          <a:lstStyle/>
          <a:p>
            <a:pPr algn="r">
              <a:defRPr sz="2200" b="1" i="0">
                <a:solidFill>
                  <a:srgbClr val="454240"/>
                </a:solidFill>
                <a:latin typeface="Libre Baskerville"/>
              </a:defRPr>
            </a:pPr>
            <a:r>
              <a:t>Жеке кабинет</a:t>
            </a:r>
          </a:p>
        </p:txBody>
      </p:sp>
      <p:sp>
        <p:nvSpPr>
          <p:cNvPr id="7" name="TextBox 6"/>
          <p:cNvSpPr txBox="1"/>
          <p:nvPr/>
        </p:nvSpPr>
        <p:spPr>
          <a:xfrm>
            <a:off x="1016000" y="4000500"/>
            <a:ext cx="3810000" cy="2540000"/>
          </a:xfrm>
          <a:prstGeom prst="rect">
            <a:avLst/>
          </a:prstGeom>
          <a:noFill/>
        </p:spPr>
        <p:txBody>
          <a:bodyPr wrap="square" anchor="t">
            <a:spAutoFit/>
          </a:bodyPr>
          <a:lstStyle/>
          <a:p>
            <a:pPr algn="r">
              <a:defRPr sz="1750" b="0" i="0">
                <a:solidFill>
                  <a:srgbClr val="454240"/>
                </a:solidFill>
                <a:latin typeface="DM Sans"/>
              </a:defRPr>
            </a:pPr>
            <a:r>
              <a:t>Студент өзінің оқу үлгерімін, академиялық жазбаларын, төлемақы туралы ақпаратты және басқа да маңызды мәліметтерді көре алады.</a:t>
            </a:r>
          </a:p>
        </p:txBody>
      </p:sp>
      <p:pic>
        <p:nvPicPr>
          <p:cNvPr id="8" name="Picture 7" descr="image.png"/>
          <p:cNvPicPr>
            <a:picLocks noChangeAspect="1"/>
          </p:cNvPicPr>
          <p:nvPr/>
        </p:nvPicPr>
        <p:blipFill>
          <a:blip r:embed="rId5"/>
          <a:stretch>
            <a:fillRect/>
          </a:stretch>
        </p:blipFill>
        <p:spPr>
          <a:xfrm>
            <a:off x="5651500" y="4508500"/>
            <a:ext cx="355600" cy="355600"/>
          </a:xfrm>
          <a:prstGeom prst="rect">
            <a:avLst/>
          </a:prstGeom>
        </p:spPr>
      </p:pic>
      <p:sp>
        <p:nvSpPr>
          <p:cNvPr id="9" name="TextBox 8"/>
          <p:cNvSpPr txBox="1"/>
          <p:nvPr/>
        </p:nvSpPr>
        <p:spPr>
          <a:xfrm>
            <a:off x="9804400" y="2794000"/>
            <a:ext cx="4445000" cy="381000"/>
          </a:xfrm>
          <a:prstGeom prst="rect">
            <a:avLst/>
          </a:prstGeom>
          <a:noFill/>
        </p:spPr>
        <p:txBody>
          <a:bodyPr wrap="square" anchor="t">
            <a:spAutoFit/>
          </a:bodyPr>
          <a:lstStyle/>
          <a:p>
            <a:pPr algn="l">
              <a:defRPr sz="2200" b="1" i="0">
                <a:solidFill>
                  <a:srgbClr val="454240"/>
                </a:solidFill>
                <a:latin typeface="Libre Baskerville"/>
              </a:defRPr>
            </a:pPr>
            <a:r>
              <a:t>Онлайн тапсырмалар</a:t>
            </a:r>
          </a:p>
        </p:txBody>
      </p:sp>
      <p:sp>
        <p:nvSpPr>
          <p:cNvPr id="10" name="TextBox 9"/>
          <p:cNvSpPr txBox="1"/>
          <p:nvPr/>
        </p:nvSpPr>
        <p:spPr>
          <a:xfrm>
            <a:off x="9804400" y="3238500"/>
            <a:ext cx="3810000" cy="1143000"/>
          </a:xfrm>
          <a:prstGeom prst="rect">
            <a:avLst/>
          </a:prstGeom>
          <a:noFill/>
        </p:spPr>
        <p:txBody>
          <a:bodyPr wrap="square" anchor="t">
            <a:spAutoFit/>
          </a:bodyPr>
          <a:lstStyle/>
          <a:p>
            <a:pPr algn="l">
              <a:defRPr sz="1750" b="0" i="0">
                <a:solidFill>
                  <a:srgbClr val="454240"/>
                </a:solidFill>
                <a:latin typeface="DM Sans"/>
              </a:defRPr>
            </a:pPr>
            <a:r>
              <a:t>Оқытушылар тапсырмаларды жүктеп, студенттер оларды осы жүйе арқылы онлайн түрде орындап, тапсыра алады.</a:t>
            </a:r>
          </a:p>
        </p:txBody>
      </p:sp>
      <p:pic>
        <p:nvPicPr>
          <p:cNvPr id="11" name="Picture 10" descr="image.png"/>
          <p:cNvPicPr>
            <a:picLocks noChangeAspect="1"/>
          </p:cNvPicPr>
          <p:nvPr/>
        </p:nvPicPr>
        <p:blipFill>
          <a:blip r:embed="rId6"/>
          <a:stretch>
            <a:fillRect/>
          </a:stretch>
        </p:blipFill>
        <p:spPr>
          <a:xfrm>
            <a:off x="7975600" y="3302000"/>
            <a:ext cx="355600" cy="355600"/>
          </a:xfrm>
          <a:prstGeom prst="rect">
            <a:avLst/>
          </a:prstGeom>
        </p:spPr>
      </p:pic>
      <p:sp>
        <p:nvSpPr>
          <p:cNvPr id="12" name="TextBox 11"/>
          <p:cNvSpPr txBox="1"/>
          <p:nvPr/>
        </p:nvSpPr>
        <p:spPr>
          <a:xfrm>
            <a:off x="9804400" y="4953000"/>
            <a:ext cx="4445000" cy="381000"/>
          </a:xfrm>
          <a:prstGeom prst="rect">
            <a:avLst/>
          </a:prstGeom>
          <a:noFill/>
        </p:spPr>
        <p:txBody>
          <a:bodyPr wrap="square" anchor="t">
            <a:spAutoFit/>
          </a:bodyPr>
          <a:lstStyle/>
          <a:p>
            <a:pPr algn="l">
              <a:defRPr sz="2200" b="1" i="0">
                <a:solidFill>
                  <a:srgbClr val="454240"/>
                </a:solidFill>
                <a:latin typeface="Libre Baskerville"/>
              </a:defRPr>
            </a:pPr>
            <a:r>
              <a:t>Байланыс</a:t>
            </a:r>
          </a:p>
        </p:txBody>
      </p:sp>
      <p:sp>
        <p:nvSpPr>
          <p:cNvPr id="13" name="TextBox 12"/>
          <p:cNvSpPr txBox="1"/>
          <p:nvPr/>
        </p:nvSpPr>
        <p:spPr>
          <a:xfrm>
            <a:off x="9804400" y="5397500"/>
            <a:ext cx="3810000" cy="1143000"/>
          </a:xfrm>
          <a:prstGeom prst="rect">
            <a:avLst/>
          </a:prstGeom>
          <a:noFill/>
        </p:spPr>
        <p:txBody>
          <a:bodyPr wrap="square" anchor="t">
            <a:spAutoFit/>
          </a:bodyPr>
          <a:lstStyle/>
          <a:p>
            <a:pPr algn="l">
              <a:defRPr sz="1750" b="0" i="0">
                <a:solidFill>
                  <a:srgbClr val="454240"/>
                </a:solidFill>
                <a:latin typeface="DM Sans"/>
              </a:defRPr>
            </a:pPr>
            <a:r>
              <a:t>Студенттер оқытушылармен және әкімшілікпен жүйе ішінде оңай байланыс орнатып, сұрақтар қоя алады.</a:t>
            </a:r>
          </a:p>
        </p:txBody>
      </p:sp>
      <p:pic>
        <p:nvPicPr>
          <p:cNvPr id="14" name="Picture 13" descr="image.png"/>
          <p:cNvPicPr>
            <a:picLocks noChangeAspect="1"/>
          </p:cNvPicPr>
          <p:nvPr/>
        </p:nvPicPr>
        <p:blipFill>
          <a:blip r:embed="rId7"/>
          <a:stretch>
            <a:fillRect/>
          </a:stretch>
        </p:blipFill>
        <p:spPr>
          <a:xfrm>
            <a:off x="7874000" y="5816600"/>
            <a:ext cx="355600" cy="355600"/>
          </a:xfrm>
          <a:prstGeom prst="rect">
            <a:avLst/>
          </a:prstGeom>
        </p:spPr>
      </p:pic>
      <p:sp>
        <p:nvSpPr>
          <p:cNvPr id="15" name="TextBox 14"/>
          <p:cNvSpPr txBox="1"/>
          <p:nvPr/>
        </p:nvSpPr>
        <p:spPr>
          <a:xfrm>
            <a:off x="762000" y="7239000"/>
            <a:ext cx="12700000" cy="762000"/>
          </a:xfrm>
          <a:prstGeom prst="rect">
            <a:avLst/>
          </a:prstGeom>
          <a:noFill/>
        </p:spPr>
        <p:txBody>
          <a:bodyPr wrap="square" anchor="t">
            <a:spAutoFit/>
          </a:bodyPr>
          <a:lstStyle/>
          <a:p>
            <a:pPr algn="l">
              <a:defRPr sz="1750" b="0" i="0">
                <a:solidFill>
                  <a:srgbClr val="454240"/>
                </a:solidFill>
                <a:latin typeface="DM Sans"/>
              </a:defRPr>
            </a:pPr>
            <a:r>
              <a:t>Бұл мүмкіндіктер студенттердің оқу процесіне белсенді қатысуын қамтамасыз етеді.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5486400" cy="8229600"/>
          </a:xfrm>
          <a:prstGeom prst="rect">
            <a:avLst/>
          </a:prstGeom>
        </p:spPr>
      </p:pic>
      <p:sp>
        <p:nvSpPr>
          <p:cNvPr id="3" name="TextBox 2"/>
          <p:cNvSpPr txBox="1"/>
          <p:nvPr/>
        </p:nvSpPr>
        <p:spPr>
          <a:xfrm>
            <a:off x="6350000" y="1714500"/>
            <a:ext cx="7620000" cy="1270000"/>
          </a:xfrm>
          <a:prstGeom prst="rect">
            <a:avLst/>
          </a:prstGeom>
          <a:noFill/>
        </p:spPr>
        <p:txBody>
          <a:bodyPr wrap="square" anchor="t">
            <a:spAutoFit/>
          </a:bodyPr>
          <a:lstStyle/>
          <a:p>
            <a:pPr algn="l">
              <a:defRPr sz="4400" b="1" i="0">
                <a:solidFill>
                  <a:srgbClr val="5C4E3D"/>
                </a:solidFill>
                <a:latin typeface="Libre Baskerville"/>
              </a:defRPr>
            </a:pPr>
            <a:r>
              <a:t>Оқытушы үшін пайдасы</a:t>
            </a:r>
          </a:p>
        </p:txBody>
      </p:sp>
      <p:sp>
        <p:nvSpPr>
          <p:cNvPr id="4" name="Rounded Rectangle 3"/>
          <p:cNvSpPr/>
          <p:nvPr/>
        </p:nvSpPr>
        <p:spPr>
          <a:xfrm>
            <a:off x="6534150" y="2984500"/>
            <a:ext cx="12700" cy="30480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50000" y="3175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0" y="29210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1</a:t>
            </a:r>
          </a:p>
        </p:txBody>
      </p:sp>
      <p:sp>
        <p:nvSpPr>
          <p:cNvPr id="7" name="Rounded Rectangle 6"/>
          <p:cNvSpPr/>
          <p:nvPr/>
        </p:nvSpPr>
        <p:spPr>
          <a:xfrm>
            <a:off x="6731000" y="3359150"/>
            <a:ext cx="571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50000" y="5080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0000" y="48133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2</a:t>
            </a:r>
          </a:p>
        </p:txBody>
      </p:sp>
      <p:sp>
        <p:nvSpPr>
          <p:cNvPr id="10" name="Rounded Rectangle 9"/>
          <p:cNvSpPr/>
          <p:nvPr/>
        </p:nvSpPr>
        <p:spPr>
          <a:xfrm>
            <a:off x="6731000" y="5264150"/>
            <a:ext cx="571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3000" y="2984500"/>
            <a:ext cx="6985000" cy="381000"/>
          </a:xfrm>
          <a:prstGeom prst="rect">
            <a:avLst/>
          </a:prstGeom>
          <a:noFill/>
        </p:spPr>
        <p:txBody>
          <a:bodyPr wrap="square" anchor="t">
            <a:spAutoFit/>
          </a:bodyPr>
          <a:lstStyle/>
          <a:p>
            <a:pPr algn="l">
              <a:defRPr sz="2200" b="1" i="0">
                <a:solidFill>
                  <a:srgbClr val="454240"/>
                </a:solidFill>
                <a:latin typeface="Libre Baskerville"/>
              </a:defRPr>
            </a:pPr>
            <a:r>
              <a:t>Студенттерді бағалау</a:t>
            </a:r>
          </a:p>
        </p:txBody>
      </p:sp>
      <p:sp>
        <p:nvSpPr>
          <p:cNvPr id="12" name="TextBox 11"/>
          <p:cNvSpPr txBox="1"/>
          <p:nvPr/>
        </p:nvSpPr>
        <p:spPr>
          <a:xfrm>
            <a:off x="7493000" y="3365500"/>
            <a:ext cx="6985000" cy="1143000"/>
          </a:xfrm>
          <a:prstGeom prst="rect">
            <a:avLst/>
          </a:prstGeom>
          <a:noFill/>
        </p:spPr>
        <p:txBody>
          <a:bodyPr wrap="square" anchor="t">
            <a:spAutoFit/>
          </a:bodyPr>
          <a:lstStyle/>
          <a:p>
            <a:pPr algn="l">
              <a:defRPr sz="1750" b="0" i="0">
                <a:solidFill>
                  <a:srgbClr val="454240"/>
                </a:solidFill>
                <a:latin typeface="DM Sans"/>
              </a:defRPr>
            </a:pPr>
            <a:r>
              <a:t>Баға қоюды, есептерді тексеруді автоматтандыру арқылы уақытты үнемдейді және жұмысты жеңілдетеді.</a:t>
            </a:r>
          </a:p>
        </p:txBody>
      </p:sp>
      <p:sp>
        <p:nvSpPr>
          <p:cNvPr id="13" name="TextBox 12"/>
          <p:cNvSpPr txBox="1"/>
          <p:nvPr/>
        </p:nvSpPr>
        <p:spPr>
          <a:xfrm>
            <a:off x="7493000" y="4889500"/>
            <a:ext cx="6985000" cy="381000"/>
          </a:xfrm>
          <a:prstGeom prst="rect">
            <a:avLst/>
          </a:prstGeom>
          <a:noFill/>
        </p:spPr>
        <p:txBody>
          <a:bodyPr wrap="square" anchor="t">
            <a:spAutoFit/>
          </a:bodyPr>
          <a:lstStyle/>
          <a:p>
            <a:pPr algn="l">
              <a:defRPr sz="2200" b="1" i="0">
                <a:solidFill>
                  <a:srgbClr val="454240"/>
                </a:solidFill>
                <a:latin typeface="Libre Baskerville"/>
              </a:defRPr>
            </a:pPr>
            <a:r>
              <a:t>Сабақ материалдарын орналастыру</a:t>
            </a:r>
          </a:p>
        </p:txBody>
      </p:sp>
      <p:sp>
        <p:nvSpPr>
          <p:cNvPr id="14" name="TextBox 13"/>
          <p:cNvSpPr txBox="1"/>
          <p:nvPr/>
        </p:nvSpPr>
        <p:spPr>
          <a:xfrm>
            <a:off x="7493000" y="5270500"/>
            <a:ext cx="6985000" cy="1143000"/>
          </a:xfrm>
          <a:prstGeom prst="rect">
            <a:avLst/>
          </a:prstGeom>
          <a:noFill/>
        </p:spPr>
        <p:txBody>
          <a:bodyPr wrap="square" anchor="t">
            <a:spAutoFit/>
          </a:bodyPr>
          <a:lstStyle/>
          <a:p>
            <a:pPr algn="l">
              <a:defRPr sz="1750" b="0" i="0">
                <a:solidFill>
                  <a:srgbClr val="454240"/>
                </a:solidFill>
                <a:latin typeface="DM Sans"/>
              </a:defRPr>
            </a:pPr>
            <a:r>
              <a:t>Лекциялар, презентациялар, қосымша әдебиеттер сияқты материалдарды студенттерге оңай жіберуге мүмкіндік береді.</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sp>
        <p:nvSpPr>
          <p:cNvPr id="2" name="TextBox 1"/>
          <p:cNvSpPr txBox="1"/>
          <p:nvPr/>
        </p:nvSpPr>
        <p:spPr>
          <a:xfrm>
            <a:off x="762000" y="1270000"/>
            <a:ext cx="12700000" cy="1143000"/>
          </a:xfrm>
          <a:prstGeom prst="rect">
            <a:avLst/>
          </a:prstGeom>
          <a:noFill/>
        </p:spPr>
        <p:txBody>
          <a:bodyPr wrap="square" anchor="t">
            <a:spAutoFit/>
          </a:bodyPr>
          <a:lstStyle/>
          <a:p>
            <a:pPr algn="l">
              <a:defRPr sz="4400" b="1" i="0">
                <a:solidFill>
                  <a:srgbClr val="5C4E3D"/>
                </a:solidFill>
                <a:latin typeface="Libre Baskerville"/>
              </a:defRPr>
            </a:pPr>
            <a:r>
              <a:t>Қауіпсіздік шаралары</a:t>
            </a:r>
          </a:p>
        </p:txBody>
      </p:sp>
      <p:pic>
        <p:nvPicPr>
          <p:cNvPr id="3" name="Picture 2" descr="image.png"/>
          <p:cNvPicPr>
            <a:picLocks noChangeAspect="1"/>
          </p:cNvPicPr>
          <p:nvPr/>
        </p:nvPicPr>
        <p:blipFill>
          <a:blip r:embed="rId2"/>
          <a:stretch>
            <a:fillRect/>
          </a:stretch>
        </p:blipFill>
        <p:spPr>
          <a:xfrm>
            <a:off x="825500" y="2286000"/>
            <a:ext cx="4318000" cy="889000"/>
          </a:xfrm>
          <a:prstGeom prst="rect">
            <a:avLst/>
          </a:prstGeom>
        </p:spPr>
      </p:pic>
      <p:sp>
        <p:nvSpPr>
          <p:cNvPr id="4" name="TextBox 3"/>
          <p:cNvSpPr txBox="1"/>
          <p:nvPr/>
        </p:nvSpPr>
        <p:spPr>
          <a:xfrm>
            <a:off x="1016000" y="3365500"/>
            <a:ext cx="4127500" cy="381000"/>
          </a:xfrm>
          <a:prstGeom prst="rect">
            <a:avLst/>
          </a:prstGeom>
          <a:noFill/>
        </p:spPr>
        <p:txBody>
          <a:bodyPr wrap="square" anchor="t">
            <a:spAutoFit/>
          </a:bodyPr>
          <a:lstStyle/>
          <a:p>
            <a:pPr algn="l">
              <a:defRPr sz="2200" b="1" i="0">
                <a:solidFill>
                  <a:srgbClr val="454240"/>
                </a:solidFill>
                <a:latin typeface="Libre Baskerville"/>
              </a:defRPr>
            </a:pPr>
            <a:r>
              <a:t>Жеке мәліметтерді қорғау</a:t>
            </a:r>
          </a:p>
        </p:txBody>
      </p:sp>
      <p:sp>
        <p:nvSpPr>
          <p:cNvPr id="5" name="TextBox 4"/>
          <p:cNvSpPr txBox="1"/>
          <p:nvPr/>
        </p:nvSpPr>
        <p:spPr>
          <a:xfrm>
            <a:off x="1016000" y="3810000"/>
            <a:ext cx="3873500" cy="2540000"/>
          </a:xfrm>
          <a:prstGeom prst="rect">
            <a:avLst/>
          </a:prstGeom>
          <a:noFill/>
        </p:spPr>
        <p:txBody>
          <a:bodyPr wrap="square" anchor="t">
            <a:spAutoFit/>
          </a:bodyPr>
          <a:lstStyle/>
          <a:p>
            <a:pPr algn="l">
              <a:defRPr sz="1750" b="0" i="0">
                <a:solidFill>
                  <a:srgbClr val="454240"/>
                </a:solidFill>
                <a:latin typeface="DM Sans"/>
              </a:defRPr>
            </a:pPr>
            <a:r>
              <a:t>СБЖ студенттердің құпия ақпараттарын заң талаптарына сәйкес қорғауды қамтамасыз етеді, олардың құпиялылығын сақтайды.</a:t>
            </a:r>
          </a:p>
        </p:txBody>
      </p:sp>
      <p:pic>
        <p:nvPicPr>
          <p:cNvPr id="6" name="Picture 5" descr="image.png"/>
          <p:cNvPicPr>
            <a:picLocks noChangeAspect="1"/>
          </p:cNvPicPr>
          <p:nvPr/>
        </p:nvPicPr>
        <p:blipFill>
          <a:blip r:embed="rId3"/>
          <a:stretch>
            <a:fillRect/>
          </a:stretch>
        </p:blipFill>
        <p:spPr>
          <a:xfrm>
            <a:off x="2806700" y="2552700"/>
            <a:ext cx="355600" cy="355600"/>
          </a:xfrm>
          <a:prstGeom prst="rect">
            <a:avLst/>
          </a:prstGeom>
        </p:spPr>
      </p:pic>
      <p:pic>
        <p:nvPicPr>
          <p:cNvPr id="7" name="Picture 6" descr="image.png"/>
          <p:cNvPicPr>
            <a:picLocks noChangeAspect="1"/>
          </p:cNvPicPr>
          <p:nvPr/>
        </p:nvPicPr>
        <p:blipFill>
          <a:blip r:embed="rId2"/>
          <a:stretch>
            <a:fillRect/>
          </a:stretch>
        </p:blipFill>
        <p:spPr>
          <a:xfrm>
            <a:off x="5143500" y="2286000"/>
            <a:ext cx="4318000" cy="889000"/>
          </a:xfrm>
          <a:prstGeom prst="rect">
            <a:avLst/>
          </a:prstGeom>
        </p:spPr>
      </p:pic>
      <p:sp>
        <p:nvSpPr>
          <p:cNvPr id="8" name="TextBox 7"/>
          <p:cNvSpPr txBox="1"/>
          <p:nvPr/>
        </p:nvSpPr>
        <p:spPr>
          <a:xfrm>
            <a:off x="5321300" y="3365500"/>
            <a:ext cx="4127500" cy="381000"/>
          </a:xfrm>
          <a:prstGeom prst="rect">
            <a:avLst/>
          </a:prstGeom>
          <a:noFill/>
        </p:spPr>
        <p:txBody>
          <a:bodyPr wrap="square" anchor="t">
            <a:spAutoFit/>
          </a:bodyPr>
          <a:lstStyle/>
          <a:p>
            <a:pPr algn="l">
              <a:defRPr sz="2200" b="1" i="0">
                <a:solidFill>
                  <a:srgbClr val="454240"/>
                </a:solidFill>
                <a:latin typeface="Libre Baskerville"/>
              </a:defRPr>
            </a:pPr>
            <a:r>
              <a:t>Рұқсатсыз қолжетімділік</a:t>
            </a:r>
          </a:p>
        </p:txBody>
      </p:sp>
      <p:sp>
        <p:nvSpPr>
          <p:cNvPr id="9" name="TextBox 8"/>
          <p:cNvSpPr txBox="1"/>
          <p:nvPr/>
        </p:nvSpPr>
        <p:spPr>
          <a:xfrm>
            <a:off x="5321300" y="3810000"/>
            <a:ext cx="3873500" cy="2540000"/>
          </a:xfrm>
          <a:prstGeom prst="rect">
            <a:avLst/>
          </a:prstGeom>
          <a:noFill/>
        </p:spPr>
        <p:txBody>
          <a:bodyPr wrap="square" anchor="t">
            <a:spAutoFit/>
          </a:bodyPr>
          <a:lstStyle/>
          <a:p>
            <a:pPr algn="l">
              <a:defRPr sz="1750" b="0" i="0">
                <a:solidFill>
                  <a:srgbClr val="454240"/>
                </a:solidFill>
                <a:latin typeface="DM Sans"/>
              </a:defRPr>
            </a:pPr>
            <a:r>
              <a:t>Әрбір пайдаланушы өзінің жеке логині мен паролі арқылы жүйеге кіреді, бұл рұқсатсыз қолжетімділікті алдын алады.</a:t>
            </a:r>
          </a:p>
        </p:txBody>
      </p:sp>
      <p:pic>
        <p:nvPicPr>
          <p:cNvPr id="10" name="Picture 9" descr="image.png"/>
          <p:cNvPicPr>
            <a:picLocks noChangeAspect="1"/>
          </p:cNvPicPr>
          <p:nvPr/>
        </p:nvPicPr>
        <p:blipFill>
          <a:blip r:embed="rId4"/>
          <a:stretch>
            <a:fillRect/>
          </a:stretch>
        </p:blipFill>
        <p:spPr>
          <a:xfrm>
            <a:off x="7124700" y="2552700"/>
            <a:ext cx="355600" cy="355600"/>
          </a:xfrm>
          <a:prstGeom prst="rect">
            <a:avLst/>
          </a:prstGeom>
        </p:spPr>
      </p:pic>
      <p:pic>
        <p:nvPicPr>
          <p:cNvPr id="11" name="Picture 10" descr="image.png"/>
          <p:cNvPicPr>
            <a:picLocks noChangeAspect="1"/>
          </p:cNvPicPr>
          <p:nvPr/>
        </p:nvPicPr>
        <p:blipFill>
          <a:blip r:embed="rId2"/>
          <a:stretch>
            <a:fillRect/>
          </a:stretch>
        </p:blipFill>
        <p:spPr>
          <a:xfrm>
            <a:off x="9461500" y="2286000"/>
            <a:ext cx="4318000" cy="889000"/>
          </a:xfrm>
          <a:prstGeom prst="rect">
            <a:avLst/>
          </a:prstGeom>
        </p:spPr>
      </p:pic>
      <p:sp>
        <p:nvSpPr>
          <p:cNvPr id="12" name="TextBox 11"/>
          <p:cNvSpPr txBox="1"/>
          <p:nvPr/>
        </p:nvSpPr>
        <p:spPr>
          <a:xfrm>
            <a:off x="9690100" y="3365500"/>
            <a:ext cx="4127500" cy="381000"/>
          </a:xfrm>
          <a:prstGeom prst="rect">
            <a:avLst/>
          </a:prstGeom>
          <a:noFill/>
        </p:spPr>
        <p:txBody>
          <a:bodyPr wrap="square" anchor="t">
            <a:spAutoFit/>
          </a:bodyPr>
          <a:lstStyle/>
          <a:p>
            <a:pPr algn="l">
              <a:defRPr sz="2200" b="1" i="0">
                <a:solidFill>
                  <a:srgbClr val="454240"/>
                </a:solidFill>
                <a:latin typeface="Libre Baskerville"/>
              </a:defRPr>
            </a:pPr>
            <a:r>
              <a:t>Регулярлы жаңартулар</a:t>
            </a:r>
          </a:p>
        </p:txBody>
      </p:sp>
      <p:sp>
        <p:nvSpPr>
          <p:cNvPr id="13" name="TextBox 12"/>
          <p:cNvSpPr txBox="1"/>
          <p:nvPr/>
        </p:nvSpPr>
        <p:spPr>
          <a:xfrm>
            <a:off x="9690100" y="3810000"/>
            <a:ext cx="3873500" cy="2540000"/>
          </a:xfrm>
          <a:prstGeom prst="rect">
            <a:avLst/>
          </a:prstGeom>
          <a:noFill/>
        </p:spPr>
        <p:txBody>
          <a:bodyPr wrap="square" anchor="t">
            <a:spAutoFit/>
          </a:bodyPr>
          <a:lstStyle/>
          <a:p>
            <a:pPr algn="l">
              <a:defRPr sz="1750" b="0" i="0">
                <a:solidFill>
                  <a:srgbClr val="454240"/>
                </a:solidFill>
                <a:latin typeface="DM Sans"/>
              </a:defRPr>
            </a:pPr>
            <a:r>
              <a:t>Жүйенің қауіпсіздігін үнемі қамтамасыз ету үшін бағдарламалық қамтамасыз ету жүйелі түрде жаңартылып отырады.</a:t>
            </a:r>
          </a:p>
        </p:txBody>
      </p:sp>
      <p:pic>
        <p:nvPicPr>
          <p:cNvPr id="14" name="Picture 13" descr="image.png"/>
          <p:cNvPicPr>
            <a:picLocks noChangeAspect="1"/>
          </p:cNvPicPr>
          <p:nvPr/>
        </p:nvPicPr>
        <p:blipFill>
          <a:blip r:embed="rId5"/>
          <a:stretch>
            <a:fillRect/>
          </a:stretch>
        </p:blipFill>
        <p:spPr>
          <a:xfrm>
            <a:off x="11544300" y="2552700"/>
            <a:ext cx="355600" cy="355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4630400" cy="3302000"/>
          </a:xfrm>
          <a:prstGeom prst="rect">
            <a:avLst/>
          </a:prstGeom>
        </p:spPr>
      </p:pic>
      <p:sp>
        <p:nvSpPr>
          <p:cNvPr id="3" name="TextBox 2"/>
          <p:cNvSpPr txBox="1"/>
          <p:nvPr/>
        </p:nvSpPr>
        <p:spPr>
          <a:xfrm>
            <a:off x="762000" y="3429000"/>
            <a:ext cx="13106400" cy="1270000"/>
          </a:xfrm>
          <a:prstGeom prst="rect">
            <a:avLst/>
          </a:prstGeom>
          <a:noFill/>
        </p:spPr>
        <p:txBody>
          <a:bodyPr wrap="square" anchor="b">
            <a:spAutoFit/>
          </a:bodyPr>
          <a:lstStyle/>
          <a:p>
            <a:pPr algn="l">
              <a:defRPr sz="4400" b="1" i="0">
                <a:solidFill>
                  <a:srgbClr val="5C4E3D"/>
                </a:solidFill>
                <a:latin typeface="Libre Baskerville"/>
              </a:defRPr>
            </a:pPr>
            <a:r>
              <a:t>Студенттерді басқару жүйесінің болашағы</a:t>
            </a:r>
          </a:p>
        </p:txBody>
      </p:sp>
      <p:sp>
        <p:nvSpPr>
          <p:cNvPr id="4" name="Rounded Rectangle 3"/>
          <p:cNvSpPr/>
          <p:nvPr/>
        </p:nvSpPr>
        <p:spPr>
          <a:xfrm>
            <a:off x="762000" y="5080000"/>
            <a:ext cx="64262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42200" y="5080000"/>
            <a:ext cx="64262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5334000"/>
            <a:ext cx="6299200" cy="381000"/>
          </a:xfrm>
          <a:prstGeom prst="rect">
            <a:avLst/>
          </a:prstGeom>
          <a:noFill/>
        </p:spPr>
        <p:txBody>
          <a:bodyPr wrap="square" anchor="t">
            <a:spAutoFit/>
          </a:bodyPr>
          <a:lstStyle/>
          <a:p>
            <a:pPr algn="l">
              <a:defRPr sz="2200" b="1" i="0">
                <a:solidFill>
                  <a:srgbClr val="454240"/>
                </a:solidFill>
                <a:latin typeface="Libre Baskerville"/>
              </a:defRPr>
            </a:pPr>
            <a:r>
              <a:t>Жасанды интеллект</a:t>
            </a:r>
          </a:p>
        </p:txBody>
      </p:sp>
      <p:sp>
        <p:nvSpPr>
          <p:cNvPr id="7" name="TextBox 6"/>
          <p:cNvSpPr txBox="1"/>
          <p:nvPr/>
        </p:nvSpPr>
        <p:spPr>
          <a:xfrm>
            <a:off x="889000" y="5842000"/>
            <a:ext cx="6299200" cy="1143000"/>
          </a:xfrm>
          <a:prstGeom prst="rect">
            <a:avLst/>
          </a:prstGeom>
          <a:noFill/>
        </p:spPr>
        <p:txBody>
          <a:bodyPr wrap="square" anchor="t">
            <a:spAutoFit/>
          </a:bodyPr>
          <a:lstStyle/>
          <a:p>
            <a:pPr algn="l">
              <a:defRPr sz="1750" b="0" i="0">
                <a:solidFill>
                  <a:srgbClr val="454240"/>
                </a:solidFill>
                <a:latin typeface="DM Sans"/>
              </a:defRPr>
            </a:pPr>
            <a:r>
              <a:t>Жасанды интеллект студенттердің оқу траекторияларын жекелендіруге, олардың оқудағы ықтимал қиындықтарын ерте анықтауға және тиісті көмек көрсетуге мүмкіндік береді.</a:t>
            </a:r>
          </a:p>
        </p:txBody>
      </p:sp>
      <p:sp>
        <p:nvSpPr>
          <p:cNvPr id="8" name="TextBox 7"/>
          <p:cNvSpPr txBox="1"/>
          <p:nvPr/>
        </p:nvSpPr>
        <p:spPr>
          <a:xfrm>
            <a:off x="7569200" y="5334000"/>
            <a:ext cx="6299200" cy="381000"/>
          </a:xfrm>
          <a:prstGeom prst="rect">
            <a:avLst/>
          </a:prstGeom>
          <a:noFill/>
        </p:spPr>
        <p:txBody>
          <a:bodyPr wrap="square" anchor="t">
            <a:spAutoFit/>
          </a:bodyPr>
          <a:lstStyle/>
          <a:p>
            <a:pPr algn="l">
              <a:defRPr sz="2200" b="1" i="0">
                <a:solidFill>
                  <a:srgbClr val="454240"/>
                </a:solidFill>
                <a:latin typeface="Libre Baskerville"/>
              </a:defRPr>
            </a:pPr>
            <a:r>
              <a:t>Мобильді қосымшалар</a:t>
            </a:r>
          </a:p>
        </p:txBody>
      </p:sp>
      <p:sp>
        <p:nvSpPr>
          <p:cNvPr id="9" name="TextBox 8"/>
          <p:cNvSpPr txBox="1"/>
          <p:nvPr/>
        </p:nvSpPr>
        <p:spPr>
          <a:xfrm>
            <a:off x="7569200" y="5842000"/>
            <a:ext cx="6299200" cy="1143000"/>
          </a:xfrm>
          <a:prstGeom prst="rect">
            <a:avLst/>
          </a:prstGeom>
          <a:noFill/>
        </p:spPr>
        <p:txBody>
          <a:bodyPr wrap="square" anchor="t">
            <a:spAutoFit/>
          </a:bodyPr>
          <a:lstStyle/>
          <a:p>
            <a:pPr algn="l">
              <a:defRPr sz="1750" b="0" i="0">
                <a:solidFill>
                  <a:srgbClr val="454240"/>
                </a:solidFill>
                <a:latin typeface="DM Sans"/>
              </a:defRPr>
            </a:pPr>
            <a:r>
              <a:t>Мобильді қосымшалар студенттер мен оқытушыларға кез келген жерден және уақытта жүйеге қол жеткізуді жеңілдетеді, бұл оқу процесінің икемділігін арттырады.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9144000" y="0"/>
            <a:ext cx="5486400" cy="8229600"/>
          </a:xfrm>
          <a:prstGeom prst="rect">
            <a:avLst/>
          </a:prstGeom>
        </p:spPr>
      </p:pic>
      <p:sp>
        <p:nvSpPr>
          <p:cNvPr id="3" name="TextBox 2"/>
          <p:cNvSpPr txBox="1"/>
          <p:nvPr/>
        </p:nvSpPr>
        <p:spPr>
          <a:xfrm>
            <a:off x="762000" y="254000"/>
            <a:ext cx="8128000" cy="2120900"/>
          </a:xfrm>
          <a:prstGeom prst="rect">
            <a:avLst/>
          </a:prstGeom>
          <a:noFill/>
        </p:spPr>
        <p:txBody>
          <a:bodyPr wrap="square" anchor="b">
            <a:spAutoFit/>
          </a:bodyPr>
          <a:lstStyle/>
          <a:p>
            <a:pPr algn="l">
              <a:defRPr sz="4400" b="1" i="0">
                <a:solidFill>
                  <a:srgbClr val="5C4E3D"/>
                </a:solidFill>
                <a:latin typeface="Libre Baskerville"/>
              </a:defRPr>
            </a:pPr>
            <a:r>
              <a:t>Big Data технологиялары</a:t>
            </a:r>
          </a:p>
        </p:txBody>
      </p:sp>
      <p:sp>
        <p:nvSpPr>
          <p:cNvPr id="4" name="Rounded Rectangle 3"/>
          <p:cNvSpPr/>
          <p:nvPr/>
        </p:nvSpPr>
        <p:spPr>
          <a:xfrm>
            <a:off x="1073150" y="2984500"/>
            <a:ext cx="12700" cy="33020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89000" y="3175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29210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1</a:t>
            </a:r>
          </a:p>
        </p:txBody>
      </p:sp>
      <p:sp>
        <p:nvSpPr>
          <p:cNvPr id="7" name="Rounded Rectangle 6"/>
          <p:cNvSpPr/>
          <p:nvPr/>
        </p:nvSpPr>
        <p:spPr>
          <a:xfrm>
            <a:off x="1270000" y="33591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9000" y="4445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9000" y="41783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2</a:t>
            </a:r>
          </a:p>
        </p:txBody>
      </p:sp>
      <p:sp>
        <p:nvSpPr>
          <p:cNvPr id="10" name="Rounded Rectangle 9"/>
          <p:cNvSpPr/>
          <p:nvPr/>
        </p:nvSpPr>
        <p:spPr>
          <a:xfrm>
            <a:off x="1270000" y="46291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00" y="5715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000" y="54483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3</a:t>
            </a:r>
          </a:p>
        </p:txBody>
      </p:sp>
      <p:sp>
        <p:nvSpPr>
          <p:cNvPr id="13" name="Rounded Rectangle 12"/>
          <p:cNvSpPr/>
          <p:nvPr/>
        </p:nvSpPr>
        <p:spPr>
          <a:xfrm>
            <a:off x="1270000" y="58991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05000" y="2984500"/>
            <a:ext cx="6985000" cy="381000"/>
          </a:xfrm>
          <a:prstGeom prst="rect">
            <a:avLst/>
          </a:prstGeom>
          <a:noFill/>
        </p:spPr>
        <p:txBody>
          <a:bodyPr wrap="square" anchor="t">
            <a:spAutoFit/>
          </a:bodyPr>
          <a:lstStyle/>
          <a:p>
            <a:pPr algn="l">
              <a:defRPr sz="2200" b="1" i="0">
                <a:solidFill>
                  <a:srgbClr val="454240"/>
                </a:solidFill>
                <a:latin typeface="Libre Baskerville"/>
              </a:defRPr>
            </a:pPr>
            <a:r>
              <a:t>Деректерді талдау</a:t>
            </a:r>
          </a:p>
        </p:txBody>
      </p:sp>
      <p:sp>
        <p:nvSpPr>
          <p:cNvPr id="15" name="TextBox 14"/>
          <p:cNvSpPr txBox="1"/>
          <p:nvPr/>
        </p:nvSpPr>
        <p:spPr>
          <a:xfrm>
            <a:off x="1905000" y="3365500"/>
            <a:ext cx="6985000" cy="1143000"/>
          </a:xfrm>
          <a:prstGeom prst="rect">
            <a:avLst/>
          </a:prstGeom>
          <a:noFill/>
        </p:spPr>
        <p:txBody>
          <a:bodyPr wrap="square" anchor="t">
            <a:spAutoFit/>
          </a:bodyPr>
          <a:lstStyle/>
          <a:p>
            <a:pPr algn="l">
              <a:defRPr sz="1750" b="0" i="0">
                <a:solidFill>
                  <a:srgbClr val="454240"/>
                </a:solidFill>
                <a:latin typeface="DM Sans"/>
              </a:defRPr>
            </a:pPr>
            <a:r>
              <a:t>Big Data технологиялары оқу процесінің тиімділігін талдау және жақсарту үшін үлкен көлемдегі деректерді пайдалануға мүмкіндік береді.</a:t>
            </a:r>
          </a:p>
        </p:txBody>
      </p:sp>
      <p:sp>
        <p:nvSpPr>
          <p:cNvPr id="16" name="TextBox 15"/>
          <p:cNvSpPr txBox="1"/>
          <p:nvPr/>
        </p:nvSpPr>
        <p:spPr>
          <a:xfrm>
            <a:off x="1905000" y="4254500"/>
            <a:ext cx="6985000" cy="381000"/>
          </a:xfrm>
          <a:prstGeom prst="rect">
            <a:avLst/>
          </a:prstGeom>
          <a:noFill/>
        </p:spPr>
        <p:txBody>
          <a:bodyPr wrap="square" anchor="t">
            <a:spAutoFit/>
          </a:bodyPr>
          <a:lstStyle/>
          <a:p>
            <a:pPr algn="l">
              <a:defRPr sz="2200" b="1" i="0">
                <a:solidFill>
                  <a:srgbClr val="454240"/>
                </a:solidFill>
                <a:latin typeface="Libre Baskerville"/>
              </a:defRPr>
            </a:pPr>
            <a:r>
              <a:t>Болжамдар</a:t>
            </a:r>
          </a:p>
        </p:txBody>
      </p:sp>
      <p:sp>
        <p:nvSpPr>
          <p:cNvPr id="17" name="TextBox 16"/>
          <p:cNvSpPr txBox="1"/>
          <p:nvPr/>
        </p:nvSpPr>
        <p:spPr>
          <a:xfrm>
            <a:off x="1905000" y="4635500"/>
            <a:ext cx="6985000" cy="1143000"/>
          </a:xfrm>
          <a:prstGeom prst="rect">
            <a:avLst/>
          </a:prstGeom>
          <a:noFill/>
        </p:spPr>
        <p:txBody>
          <a:bodyPr wrap="square" anchor="t">
            <a:spAutoFit/>
          </a:bodyPr>
          <a:lstStyle/>
          <a:p>
            <a:pPr algn="l">
              <a:defRPr sz="1750" b="0" i="0">
                <a:solidFill>
                  <a:srgbClr val="454240"/>
                </a:solidFill>
                <a:latin typeface="DM Sans"/>
              </a:defRPr>
            </a:pPr>
            <a:r>
              <a:t>Жүйе арқылы жиналған деректерді талдау арқылы студенттердің болашақ оқу траекториялары мен мансаптық бағыттары туралы болжамдар жасауға болады.</a:t>
            </a:r>
          </a:p>
        </p:txBody>
      </p:sp>
      <p:sp>
        <p:nvSpPr>
          <p:cNvPr id="18" name="TextBox 17"/>
          <p:cNvSpPr txBox="1"/>
          <p:nvPr/>
        </p:nvSpPr>
        <p:spPr>
          <a:xfrm>
            <a:off x="1905000" y="5524500"/>
            <a:ext cx="6985000" cy="381000"/>
          </a:xfrm>
          <a:prstGeom prst="rect">
            <a:avLst/>
          </a:prstGeom>
          <a:noFill/>
        </p:spPr>
        <p:txBody>
          <a:bodyPr wrap="square" anchor="t">
            <a:spAutoFit/>
          </a:bodyPr>
          <a:lstStyle/>
          <a:p>
            <a:pPr algn="l">
              <a:defRPr sz="2200" b="1" i="0">
                <a:solidFill>
                  <a:srgbClr val="454240"/>
                </a:solidFill>
                <a:latin typeface="Libre Baskerville"/>
              </a:defRPr>
            </a:pPr>
            <a:r>
              <a:t>Жақсарту</a:t>
            </a:r>
          </a:p>
        </p:txBody>
      </p:sp>
      <p:sp>
        <p:nvSpPr>
          <p:cNvPr id="19" name="TextBox 18"/>
          <p:cNvSpPr txBox="1"/>
          <p:nvPr/>
        </p:nvSpPr>
        <p:spPr>
          <a:xfrm>
            <a:off x="1905000" y="5905500"/>
            <a:ext cx="6985000" cy="1143000"/>
          </a:xfrm>
          <a:prstGeom prst="rect">
            <a:avLst/>
          </a:prstGeom>
          <a:noFill/>
        </p:spPr>
        <p:txBody>
          <a:bodyPr wrap="square" anchor="t">
            <a:spAutoFit/>
          </a:bodyPr>
          <a:lstStyle/>
          <a:p>
            <a:pPr algn="l">
              <a:defRPr sz="1750" b="0" i="0">
                <a:solidFill>
                  <a:srgbClr val="454240"/>
                </a:solidFill>
                <a:latin typeface="DM Sans"/>
              </a:defRPr>
            </a:pPr>
            <a:r>
              <a:t>Бұл технологиялар білім беру бағдарламаларын одан әрі жетілдіруге және студенттердің қажеттіліктеріне сай етуге көмектеседі.</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9144000" y="0"/>
            <a:ext cx="5486400" cy="8229600"/>
          </a:xfrm>
          <a:prstGeom prst="rect">
            <a:avLst/>
          </a:prstGeom>
        </p:spPr>
      </p:pic>
      <p:sp>
        <p:nvSpPr>
          <p:cNvPr id="3" name="TextBox 2"/>
          <p:cNvSpPr txBox="1"/>
          <p:nvPr/>
        </p:nvSpPr>
        <p:spPr>
          <a:xfrm>
            <a:off x="762000" y="1524000"/>
            <a:ext cx="7543800" cy="1905000"/>
          </a:xfrm>
          <a:prstGeom prst="rect">
            <a:avLst/>
          </a:prstGeom>
          <a:noFill/>
        </p:spPr>
        <p:txBody>
          <a:bodyPr wrap="square" anchor="b">
            <a:spAutoFit/>
          </a:bodyPr>
          <a:lstStyle/>
          <a:p>
            <a:pPr algn="l">
              <a:defRPr sz="4400" b="1" i="0">
                <a:solidFill>
                  <a:srgbClr val="5C4E3D"/>
                </a:solidFill>
                <a:latin typeface="Libre Baskerville"/>
              </a:defRPr>
            </a:pPr>
            <a:r>
              <a:t>Қорытынды</a:t>
            </a:r>
          </a:p>
        </p:txBody>
      </p:sp>
      <p:sp>
        <p:nvSpPr>
          <p:cNvPr id="4" name="TextBox 3"/>
          <p:cNvSpPr txBox="1"/>
          <p:nvPr/>
        </p:nvSpPr>
        <p:spPr>
          <a:xfrm>
            <a:off x="762000" y="3937000"/>
            <a:ext cx="7543800" cy="1803400"/>
          </a:xfrm>
          <a:prstGeom prst="rect">
            <a:avLst/>
          </a:prstGeom>
          <a:noFill/>
        </p:spPr>
        <p:txBody>
          <a:bodyPr wrap="square" anchor="t">
            <a:spAutoFit/>
          </a:bodyPr>
          <a:lstStyle/>
          <a:p>
            <a:pPr algn="l">
              <a:defRPr sz="1750" b="0" i="0">
                <a:solidFill>
                  <a:srgbClr val="454240"/>
                </a:solidFill>
                <a:latin typeface="DM Sans"/>
              </a:defRPr>
            </a:pPr>
            <a:r>
              <a:t>Студенттерді басқару жүйесі (СБЖ) – бұл заманауи білім беру жүйесінің ажырамас бөлігі болып табылады. Бұл жүйе оқу процесін тиімді ұйымдастыруға, әкімшілік және студенттер үшін уақытты үнемдеуге, сондай-ақ оқытушылар мен студенттерге ыңғайлылық жасауға бағытталған. СБЖ білім беру сапасын арттыруға және оқу мекемесінің жалпы жұмысын жақсартуға зор үлес қосады.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